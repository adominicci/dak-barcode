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45b3875ed54b0d" /><Relationship Type="http://schemas.openxmlformats.org/officeDocument/2006/relationships/extended-properties" Target="/docProps/app.xml" Id="R71983adff86f4725" /><Relationship Type="http://schemas.openxmlformats.org/officeDocument/2006/relationships/officeDocument" Target="/ppt/presentation.xml" Id="R3c51f458a9cb48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8d920984494f3b"/>
  </p:sldMasterIdLst>
  <p:notesMasterIdLst>
    <p:notesMasterId xmlns:r="http://schemas.openxmlformats.org/officeDocument/2006/relationships" r:id="Rdac83a0bba62439b"/>
  </p:notesMasterIdLst>
  <p:sldIdLst>
    <p:sldId xmlns:r="http://schemas.openxmlformats.org/officeDocument/2006/relationships" id="256" r:id="Rf1be1752548142d9"/>
    <p:sldId xmlns:r="http://schemas.openxmlformats.org/officeDocument/2006/relationships" id="257" r:id="R36a0e5de8078439e"/>
    <p:sldId xmlns:r="http://schemas.openxmlformats.org/officeDocument/2006/relationships" id="258" r:id="R501ee87ed1e14d3e"/>
    <p:sldId xmlns:r="http://schemas.openxmlformats.org/officeDocument/2006/relationships" id="259" r:id="Rb1f88be3c5194541"/>
    <p:sldId xmlns:r="http://schemas.openxmlformats.org/officeDocument/2006/relationships" id="260" r:id="R06f4a8f67b884d15"/>
    <p:sldId xmlns:r="http://schemas.openxmlformats.org/officeDocument/2006/relationships" id="261" r:id="R1f0ed8ebe30c46ca"/>
    <p:sldId xmlns:r="http://schemas.openxmlformats.org/officeDocument/2006/relationships" id="262" r:id="R2a893e2daaf347d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d920984494f3b" /><Relationship Type="http://schemas.openxmlformats.org/officeDocument/2006/relationships/theme" Target="/ppt/theme/theme1.xml" Id="R900064791e44491c" /><Relationship Type="http://schemas.openxmlformats.org/officeDocument/2006/relationships/notesMaster" Target="/ppt/notesMasters/notesMaster1.xml" Id="Rdac83a0bba62439b" /><Relationship Type="http://schemas.openxmlformats.org/officeDocument/2006/relationships/presProps" Target="/ppt/presProps.xml" Id="Rea63ea2e76fb493f" /><Relationship Type="http://schemas.openxmlformats.org/officeDocument/2006/relationships/viewProps" Target="/ppt/viewProps.xml" Id="R35d35e24d9904931" /><Relationship Type="http://schemas.openxmlformats.org/officeDocument/2006/relationships/tableStyles" Target="/ppt/tableStyles.xml" Id="Re67530c96dd34949" /><Relationship Type="http://schemas.openxmlformats.org/officeDocument/2006/relationships/slide" Target="/ppt/slides/slide1.xml" Id="Rf1be1752548142d9" /><Relationship Type="http://schemas.openxmlformats.org/officeDocument/2006/relationships/slide" Target="/ppt/slides/slide2.xml" Id="R36a0e5de8078439e" /><Relationship Type="http://schemas.openxmlformats.org/officeDocument/2006/relationships/slide" Target="/ppt/slides/slide3.xml" Id="R501ee87ed1e14d3e" /><Relationship Type="http://schemas.openxmlformats.org/officeDocument/2006/relationships/slide" Target="/ppt/slides/slide4.xml" Id="Rb1f88be3c5194541" /><Relationship Type="http://schemas.openxmlformats.org/officeDocument/2006/relationships/slide" Target="/ppt/slides/slide5.xml" Id="R06f4a8f67b884d15" /><Relationship Type="http://schemas.openxmlformats.org/officeDocument/2006/relationships/slide" Target="/ppt/slides/slide6.xml" Id="R1f0ed8ebe30c46ca" /><Relationship Type="http://schemas.openxmlformats.org/officeDocument/2006/relationships/slide" Target="/ppt/slides/slide7.xml" Id="R2a893e2daaf347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e861a0d13cd42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3e7b95c7044c4f" /><Relationship Type="http://schemas.openxmlformats.org/officeDocument/2006/relationships/notesMaster" Target="/ppt/notesMasters/notesMaster1.xml" Id="R4d2451f4345d4a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212d30c19f42fd" /><Relationship Type="http://schemas.openxmlformats.org/officeDocument/2006/relationships/notesMaster" Target="/ppt/notesMasters/notesMaster1.xml" Id="R2ebd5c74d19348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50a2d697ac4071" /><Relationship Type="http://schemas.openxmlformats.org/officeDocument/2006/relationships/notesMaster" Target="/ppt/notesMasters/notesMaster1.xml" Id="Rd0fc5789b29943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567d853c134a2f" /><Relationship Type="http://schemas.openxmlformats.org/officeDocument/2006/relationships/notesMaster" Target="/ppt/notesMasters/notesMaster1.xml" Id="R90ecd63d40e54e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97cc9691884f28" /><Relationship Type="http://schemas.openxmlformats.org/officeDocument/2006/relationships/notesMaster" Target="/ppt/notesMasters/notesMaster1.xml" Id="R598b216769d84f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ae29b5b2884743" /><Relationship Type="http://schemas.openxmlformats.org/officeDocument/2006/relationships/notesMaster" Target="/ppt/notesMasters/notesMaster1.xml" Id="R675620e72ff443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ead64ac23f4376" /><Relationship Type="http://schemas.openxmlformats.org/officeDocument/2006/relationships/notesMaster" Target="/ppt/notesMasters/notesMaster1.xml" Id="Ra6f899106a2b41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point: this is not a scanner hardware problem. It is a workflow and architecture decision about how much scan-ahead behavior we want to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old app feels instant because the scan stays inside the building. The desktop app talks to local SQL across the LAN and the result comes straight 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new web workflow has more hops. The client sends the scan to FastAPI, FastAPI reaches back to the local SQL servers, and the response returns to the client.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the real bottleneck. We were processing one scan at a time: accept scan, wait for backend response, refresh loading data, then accept the next scan.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operator experience matters: this felt like a scanner or app problem. The higher-risk case is fast batch scanning, because a missed barcode is hard to identify afterward.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distinction: a queue is not a performance optimization by itself. It is a reliability and operator-flow improvement. It prevents scans from disappearing while the backend is busy.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decision. If management wants operators to scan like they did before, a larger visible queue is the practical direction. If they prefer minimal behavior change, keep 5 and accept that it only handles small bursts.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2f17e115842d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0356f2172fd4202" /><Relationship Type="http://schemas.openxmlformats.org/officeDocument/2006/relationships/slideLayout" Target="/ppt/slideLayouts/slideLayout2.xml" Id="R737e58f6159a4b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7e58f6159a4b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736fb60bb84703" /><Relationship Type="http://schemas.openxmlformats.org/officeDocument/2006/relationships/notesSlide" Target="/ppt/notesSlides/notesSlide1.xml" Id="Re082494b87b444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4e122dec6c486a" /><Relationship Type="http://schemas.openxmlformats.org/officeDocument/2006/relationships/image" Target="/ppt/media/image.png" Id="R279298ff47b64e03" /><Relationship Type="http://schemas.openxmlformats.org/officeDocument/2006/relationships/notesSlide" Target="/ppt/notesSlides/notesSlide2.xml" Id="R25941d63ec4344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1911c3b8a748dd" /><Relationship Type="http://schemas.openxmlformats.org/officeDocument/2006/relationships/image" Target="/ppt/media/image2.png" Id="Rce6a05afdf734b26" /><Relationship Type="http://schemas.openxmlformats.org/officeDocument/2006/relationships/notesSlide" Target="/ppt/notesSlides/notesSlide3.xml" Id="Rbc828f9c42ee43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ed9cba065e4cdb" /><Relationship Type="http://schemas.openxmlformats.org/officeDocument/2006/relationships/notesSlide" Target="/ppt/notesSlides/notesSlide4.xml" Id="Rc3d5f230b51645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e4b475fa9e456c" /><Relationship Type="http://schemas.openxmlformats.org/officeDocument/2006/relationships/notesSlide" Target="/ppt/notesSlides/notesSlide5.xml" Id="R2d68dd3077784c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86d25c58334b0f" /><Relationship Type="http://schemas.openxmlformats.org/officeDocument/2006/relationships/notesSlide" Target="/ppt/notesSlides/notesSlide6.xml" Id="Re86cc6dda9b649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af9a2520f5430d" /><Relationship Type="http://schemas.openxmlformats.org/officeDocument/2006/relationships/notesSlide" Target="/ppt/notesSlides/notesSlide7.xml" Id="Rc3f8a5f8877c4cc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44BAF39-2BBC-41D8-B756-D4C550D1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CEEE474-4C34-48D5-9493-163146B3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97380"/>
            <a:ext cx="3860673" cy="4419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C11BC-6DC6-417C-93A5-9F1C8195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344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3A8A"/>
                </a:solidFill>
              </a:defRPr>
            </a:pPr>
            <a:r>
              <a:rPr sz="1650" b="1">
                <a:solidFill>
                  <a:srgbClr val="1E3A8A"/>
                </a:solidFill>
              </a:rPr>
              <a:t>Barcode scan processing decision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1E91125-8897-4C2C-9217-78B93B63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05918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0B1220"/>
                </a:solidFill>
              </a:defRPr>
            </a:pPr>
            <a:r>
              <a:rPr sz="6150" b="1">
                <a:solidFill>
                  <a:srgbClr val="0B1220"/>
                </a:solidFill>
              </a:rPr>
              <a:t>Why scans feel slower in the new web workflow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6A086A-077E-45AF-836F-655E82B4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103441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475569"/>
                </a:solidFill>
              </a:defRPr>
            </a:pPr>
            <a:r>
              <a:rPr sz="2550">
                <a:solidFill>
                  <a:srgbClr val="475569"/>
                </a:solidFill>
              </a:rPr>
              <a:t>The current Loading flow protects backend consistency, but it creates a short busy window that can miss rapid back-to-back scans.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F9588-A08F-4FCF-B5FC-A6484408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48400"/>
            <a:ext cx="50673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EA580C"/>
                </a:solidFill>
              </a:defRPr>
            </a:pPr>
            <a:r>
              <a:rPr sz="5850" b="1">
                <a:solidFill>
                  <a:srgbClr val="EA580C"/>
                </a:solidFill>
              </a:rPr>
              <a:t>2-3 sec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88234-B0DA-4953-85A1-EB39BCB6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19950"/>
            <a:ext cx="506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B1220"/>
                </a:solidFill>
              </a:defRPr>
            </a:pPr>
            <a:r>
              <a:rPr sz="1650">
                <a:solidFill>
                  <a:srgbClr val="0B1220"/>
                </a:solidFill>
              </a:rPr>
              <a:t>Typical full scan 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0E3B7-95BE-445E-BA60-30B7CD5C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248400"/>
            <a:ext cx="50673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2563EB"/>
                </a:solidFill>
              </a:defRPr>
            </a:pPr>
            <a:r>
              <a:rPr sz="5850" b="1">
                <a:solidFill>
                  <a:srgbClr val="2563EB"/>
                </a:solidFill>
              </a:rPr>
              <a:t>1 at a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1DEE7-FC95-4E8F-B3ED-FC7A17DF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219950"/>
            <a:ext cx="506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B1220"/>
                </a:solidFill>
              </a:defRPr>
            </a:pPr>
            <a:r>
              <a:rPr sz="1650">
                <a:solidFill>
                  <a:srgbClr val="0B1220"/>
                </a:solidFill>
              </a:rPr>
              <a:t>Current processing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E53E1-9726-447A-BE45-797A5A9B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248400"/>
            <a:ext cx="50673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6803C"/>
                </a:solidFill>
              </a:defRPr>
            </a:pPr>
            <a:r>
              <a:rPr sz="5850" b="1">
                <a:solidFill>
                  <a:srgbClr val="16803C"/>
                </a:solidFill>
              </a:rPr>
              <a:t>50?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23966-5676-4472-9FC6-1EB1CC0C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219950"/>
            <a:ext cx="506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B1220"/>
                </a:solidFill>
              </a:defRPr>
            </a:pPr>
            <a:r>
              <a:rPr sz="1650">
                <a:solidFill>
                  <a:srgbClr val="0B1220"/>
                </a:solidFill>
              </a:rPr>
              <a:t>Management queue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3B11D-EA30-4CED-8DD8-A47E9190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15300"/>
            <a:ext cx="1653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B1220"/>
                </a:solidFill>
              </a:defRPr>
            </a:pPr>
            <a:r>
              <a:rPr sz="1800">
                <a:solidFill>
                  <a:srgbClr val="0B1220"/>
                </a:solidFill>
              </a:rPr>
              <a:t>Goal: decide how much scan-ahead behavior production should support.</a:t>
            </a:r>
          </a:p>
        </p:txBody>
      </p:sp>
    </p:spTree>
    <p:extLst>
      <p:ext uri="{BB962C8B-B14F-4D97-AF65-F5344CB8AC3E}">
        <p14:creationId xmlns:p14="http://schemas.microsoft.com/office/powerpoint/2010/main" val="7404366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old-local-path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298ff47b64e03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22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ew-web-path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a05afdf734b26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7217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D1A210-1BD3-4A33-8F67-3BEEF234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B1220"/>
                </a:solidFill>
              </a:defRPr>
            </a:pPr>
            <a:r>
              <a:rPr sz="4650" b="1">
                <a:solidFill>
                  <a:srgbClr val="0B1220"/>
                </a:solidFill>
              </a:rPr>
              <a:t>What happens after one Loading scan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4746BCF-A11F-4B7B-9035-7CEDCDBC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10134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475569"/>
                </a:solidFill>
              </a:defRPr>
            </a:pPr>
            <a:r>
              <a:rPr sz="2175">
                <a:solidFill>
                  <a:srgbClr val="475569"/>
                </a:solidFill>
              </a:rPr>
              <a:t>The app waits for the full backend cycle before it is clearly ready for the next label.</a:t>
            </a:r>
          </a:p>
        </p:txBody>
      </p:sp>
      <p:sp>
        <p:nvSpPr>
          <p:cNvPr id="3" name="step-1. Scan accepted">
            <a:extLst xmlns:a="http://schemas.openxmlformats.org/drawingml/2006/main">
              <a:ext uri="{FF2B5EF4-FFF2-40B4-BE49-F238E27FC236}">
                <a16:creationId xmlns:a16="http://schemas.microsoft.com/office/drawing/2014/main" id="{6B10F470-45BB-4B8E-8A88-015B9515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482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CF39E-1151-49E5-AA47-3AACFFFE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1524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03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16FCF-4978-4A14-A98A-C4057DCA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72050"/>
            <a:ext cx="390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1. Scan accepted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D982E-D571-4A8C-B342-F43EE749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95900"/>
            <a:ext cx="3905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Scanner input submits one barcode into the Loading page.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23F97-9CBF-4E2E-AB01-DA0EA84D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05400"/>
            <a:ext cx="762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5569"/>
                </a:solidFill>
              </a:defRPr>
            </a:pPr>
            <a:r>
              <a:rPr sz="31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8" name="step-2. Backend work">
            <a:extLst xmlns:a="http://schemas.openxmlformats.org/drawingml/2006/main">
              <a:ext uri="{FF2B5EF4-FFF2-40B4-BE49-F238E27FC236}">
                <a16:creationId xmlns:a16="http://schemas.microsoft.com/office/drawing/2014/main" id="{B9430AB3-BFD5-4F39-AEFB-B2C1EB78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4743450"/>
            <a:ext cx="482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708E4-9DDD-4CCA-90A0-74CB14FF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91100"/>
            <a:ext cx="1524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61FED-1841-466D-A42C-3FC89A45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72050"/>
            <a:ext cx="390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2. Backend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3A6BC-ADF5-4984-8E3C-2987F6DD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95900"/>
            <a:ext cx="3905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App waits for the FastAPI scan response from the SQL-backed process.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81625-FCC3-4E36-A794-2012CBA6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5105400"/>
            <a:ext cx="762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5569"/>
                </a:solidFill>
              </a:defRPr>
            </a:pPr>
            <a:r>
              <a:rPr sz="31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3" name="step-3. Data refresh">
            <a:extLst xmlns:a="http://schemas.openxmlformats.org/drawingml/2006/main">
              <a:ext uri="{FF2B5EF4-FFF2-40B4-BE49-F238E27FC236}">
                <a16:creationId xmlns:a16="http://schemas.microsoft.com/office/drawing/2014/main" id="{F9DD4F5B-0EF1-4379-A698-86BB78FD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5700" y="4743450"/>
            <a:ext cx="482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61FB1-9142-43C4-A804-21926096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991100"/>
            <a:ext cx="1524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41887-3300-4A43-B301-3E3F6420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4972050"/>
            <a:ext cx="390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3. Data refresh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FF4FC-F622-4D70-9BE0-F4F0071E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5295900"/>
            <a:ext cx="3905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Loading data refreshes, then the input is ready again.</a:t>
            </a:r>
          </a:p>
        </p:txBody>
      </p:sp>
      <p:sp>
        <p:nvSpPr>
          <p:cNvPr id="17" name="cycle-callout">
            <a:extLst xmlns:a="http://schemas.openxmlformats.org/drawingml/2006/main">
              <a:ext uri="{FF2B5EF4-FFF2-40B4-BE49-F238E27FC236}">
                <a16:creationId xmlns:a16="http://schemas.microsoft.com/office/drawing/2014/main" id="{EB426B9A-D57B-4EB1-A810-1DC141FE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858250"/>
            <a:ext cx="165354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DBA7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F93603-835C-43EA-954B-33F4B102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067800"/>
            <a:ext cx="15887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B1220"/>
                </a:solidFill>
              </a:defRPr>
            </a:pPr>
            <a:r>
              <a:rPr sz="2250">
                <a:solidFill>
                  <a:srgbClr val="0B1220"/>
                </a:solidFill>
              </a:rPr>
              <a:t>In real use, that full cycle could take around 2-3 seconds. During that window, the scanner input was effectively busy.</a:t>
            </a:r>
          </a:p>
        </p:txBody>
      </p:sp>
    </p:spTree>
    <p:extLst>
      <p:ext uri="{BB962C8B-B14F-4D97-AF65-F5344CB8AC3E}">
        <p14:creationId xmlns:p14="http://schemas.microsoft.com/office/powerpoint/2010/main" val="4812571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848129-C54C-4B41-9088-8B11FC6C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B1220"/>
                </a:solidFill>
              </a:defRPr>
            </a:pPr>
            <a:r>
              <a:rPr sz="4650" b="1">
                <a:solidFill>
                  <a:srgbClr val="0B1220"/>
                </a:solidFill>
              </a:rPr>
              <a:t>Why operators experienced lag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5B3BD30-0878-428C-91CC-04690EEE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93916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475569"/>
                </a:solidFill>
              </a:defRPr>
            </a:pPr>
            <a:r>
              <a:rPr sz="2175">
                <a:solidFill>
                  <a:srgbClr val="475569"/>
                </a:solidFill>
              </a:rPr>
              <a:t>The issue was most visible when labels were scanned back-to-back quickly.</a:t>
            </a:r>
          </a:p>
        </p:txBody>
      </p:sp>
      <p:sp>
        <p:nvSpPr>
          <p:cNvPr id="3" name="step-Busy window">
            <a:extLst xmlns:a="http://schemas.openxmlformats.org/drawingml/2006/main">
              <a:ext uri="{FF2B5EF4-FFF2-40B4-BE49-F238E27FC236}">
                <a16:creationId xmlns:a16="http://schemas.microsoft.com/office/drawing/2014/main" id="{A8562293-C346-4395-A677-F9B30C66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8086725" cy="2193290"/>
          </a:xfrm>
          <a:prstGeom xmlns:a="http://schemas.openxmlformats.org/drawingml/2006/main" prst="roundRect">
            <a:avLst>
              <a:gd name="adj" fmla="val 5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B5D7F-F89C-44C8-91A9-2E65D070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43200"/>
            <a:ext cx="1524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8D2FA-2F7C-4FC9-A042-E2788601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19400"/>
            <a:ext cx="718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Busy window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DE5D9-5FA9-4C72-A6ED-8BA143A3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718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While one scan was processing, another scan could arrive too early.</a:t>
            </a:r>
          </a:p>
        </p:txBody>
      </p:sp>
      <p:sp>
        <p:nvSpPr>
          <p:cNvPr id="7" name="step-Missed label risk">
            <a:extLst xmlns:a="http://schemas.openxmlformats.org/drawingml/2006/main">
              <a:ext uri="{FF2B5EF4-FFF2-40B4-BE49-F238E27FC236}">
                <a16:creationId xmlns:a16="http://schemas.microsoft.com/office/drawing/2014/main" id="{CC465395-5C30-46A5-8652-5FE6D794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95550"/>
            <a:ext cx="8086725" cy="2193290"/>
          </a:xfrm>
          <a:prstGeom xmlns:a="http://schemas.openxmlformats.org/drawingml/2006/main" prst="roundRect">
            <a:avLst>
              <a:gd name="adj" fmla="val 5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5A35C-BEFF-4A01-9B89-83877500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1524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0041C-C8B7-4AE6-ABFE-628705F9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19400"/>
            <a:ext cx="718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Missed label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F604A-C35B-4AAD-81B7-C1868B48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43250"/>
            <a:ext cx="718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If a second label arrived during that window, the app could ignore or miss it.</a:t>
            </a:r>
          </a:p>
        </p:txBody>
      </p:sp>
      <p:sp>
        <p:nvSpPr>
          <p:cNvPr id="11" name="step-No busy signal">
            <a:extLst xmlns:a="http://schemas.openxmlformats.org/drawingml/2006/main">
              <a:ext uri="{FF2B5EF4-FFF2-40B4-BE49-F238E27FC236}">
                <a16:creationId xmlns:a16="http://schemas.microsoft.com/office/drawing/2014/main" id="{40F801B2-01EA-42B6-AB30-243658A6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6490"/>
            <a:ext cx="8086725" cy="224282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38407-D27E-402A-BE1E-9917FF60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1524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45250-D7F6-4CE6-B2E5-47DE5D1E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62550"/>
            <a:ext cx="718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No busy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B7224-96E7-4E59-848E-7D907A66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86400"/>
            <a:ext cx="7181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There was no clear on-screen state showing the app was unable to accept the next scan.</a:t>
            </a:r>
          </a:p>
        </p:txBody>
      </p:sp>
      <p:sp>
        <p:nvSpPr>
          <p:cNvPr id="15" name="step-No queue visibility">
            <a:extLst xmlns:a="http://schemas.openxmlformats.org/drawingml/2006/main">
              <a:ext uri="{FF2B5EF4-FFF2-40B4-BE49-F238E27FC236}">
                <a16:creationId xmlns:a16="http://schemas.microsoft.com/office/drawing/2014/main" id="{88D86D2A-A4D7-40EC-80FA-35605C5B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936490"/>
            <a:ext cx="8086725" cy="224282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1F98B-2AB0-49DF-BA8B-5E7BF10C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81600"/>
            <a:ext cx="1524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97AFF-FCA6-4554-8A92-F918448B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257800"/>
            <a:ext cx="718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No queue visibility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FABAD-9DC2-4491-A0C8-D514E4F4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581650"/>
            <a:ext cx="718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Operators could not see which scans were waiting, processed, or failed.</a:t>
            </a:r>
          </a:p>
        </p:txBody>
      </p:sp>
      <p:sp>
        <p:nvSpPr>
          <p:cNvPr id="19" name="step-Barcode reality">
            <a:extLst xmlns:a="http://schemas.openxmlformats.org/drawingml/2006/main">
              <a:ext uri="{FF2B5EF4-FFF2-40B4-BE49-F238E27FC236}">
                <a16:creationId xmlns:a16="http://schemas.microsoft.com/office/drawing/2014/main" id="{DCD77DB3-7EB7-45D4-B89F-165E848A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6960"/>
            <a:ext cx="8086725" cy="2193290"/>
          </a:xfrm>
          <a:prstGeom xmlns:a="http://schemas.openxmlformats.org/drawingml/2006/main" prst="roundRect">
            <a:avLst>
              <a:gd name="adj" fmla="val 5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0114E-445C-483F-A39B-7B032D36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658100"/>
            <a:ext cx="1524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89F24-842C-43EA-8767-00100309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734300"/>
            <a:ext cx="718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Barcode reality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939A4-D776-44EC-BF34-F817A0F1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058150"/>
            <a:ext cx="718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If a scan is missed, operators cannot reliably know which barcode needs to be repeated.</a:t>
            </a:r>
          </a:p>
        </p:txBody>
      </p:sp>
      <p:sp>
        <p:nvSpPr>
          <p:cNvPr id="23" name="step-Old workflow perception">
            <a:extLst xmlns:a="http://schemas.openxmlformats.org/drawingml/2006/main">
              <a:ext uri="{FF2B5EF4-FFF2-40B4-BE49-F238E27FC236}">
                <a16:creationId xmlns:a16="http://schemas.microsoft.com/office/drawing/2014/main" id="{1FF4BA2B-E231-4443-8550-E7800544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7426960"/>
            <a:ext cx="8086725" cy="2193290"/>
          </a:xfrm>
          <a:prstGeom xmlns:a="http://schemas.openxmlformats.org/drawingml/2006/main" prst="roundRect">
            <a:avLst>
              <a:gd name="adj" fmla="val 5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0D16D-5749-4281-9634-A2DB9046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658100"/>
            <a:ext cx="1524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03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A0C074-C887-4C45-9BC3-8D5CA51B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734300"/>
            <a:ext cx="718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Old workflow perception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98C71B-8162-4CE8-A1F5-AA728A4C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8058150"/>
            <a:ext cx="718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The old app let operators keep scanning without noticing the same dead time.</a:t>
            </a:r>
          </a:p>
        </p:txBody>
      </p:sp>
    </p:spTree>
    <p:extLst>
      <p:ext uri="{BB962C8B-B14F-4D97-AF65-F5344CB8AC3E}">
        <p14:creationId xmlns:p14="http://schemas.microsoft.com/office/powerpoint/2010/main" val="18641032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C0F45B-F855-4103-840D-9414E1F8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B1220"/>
                </a:solidFill>
              </a:defRPr>
            </a:pPr>
            <a:r>
              <a:rPr sz="4650" b="1">
                <a:solidFill>
                  <a:srgbClr val="0B1220"/>
                </a:solidFill>
              </a:rPr>
              <a:t>What the queue change is meant to fix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E1C3564-5F19-43B6-8694-7CFD0A95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11410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475569"/>
                </a:solidFill>
              </a:defRPr>
            </a:pPr>
            <a:r>
              <a:rPr sz="2175">
                <a:solidFill>
                  <a:srgbClr val="475569"/>
                </a:solidFill>
              </a:rPr>
              <a:t>A queue does not make the backend instant. It protects scans entered while the app is busy.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69C02-BCBB-49BF-B4BF-5378ECFA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480060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ECFDF5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17442-75A4-4BCA-BE13-194FD8F2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57800"/>
            <a:ext cx="419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Scan ahead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10C6A-C8D2-41C1-BE49-A4DBEE70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0"/>
            <a:ext cx="4191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Operator can scan while the prior label is still processing.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9470E-1A40-4F50-AE29-ADF3EC8A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86400"/>
            <a:ext cx="762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5569"/>
                </a:solidFill>
              </a:defRPr>
            </a:pPr>
            <a:r>
              <a:rPr sz="31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9CE72-57E0-4E77-9331-C403E7CC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80060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EFF6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2DB20-8AF3-477E-B50F-6519905D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57800"/>
            <a:ext cx="419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Visible 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90A4B-2B5F-4E53-ACF3-7777C52E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15000"/>
            <a:ext cx="4191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The app holds waiting scans and shows pending, processed, and failed states.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E3611-9965-4947-903A-235588C1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5486400"/>
            <a:ext cx="762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75569"/>
                </a:solidFill>
              </a:defRPr>
            </a:pPr>
            <a:r>
              <a:rPr sz="31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17F16-86CB-431B-BE82-AD41F714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838700"/>
            <a:ext cx="4800600" cy="179070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FFF7ED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5EE47-0399-456F-B3BA-A443BE19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5124450"/>
            <a:ext cx="419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One-by-one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36EB8-35F0-4446-BE60-8D13BA85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5581650"/>
            <a:ext cx="4191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The backend still processes in order, reducing missed scans without changing core scan behavior.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3D1C5-5914-4A52-9395-0DCB3877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277350"/>
            <a:ext cx="1653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B1220"/>
                </a:solidFill>
              </a:defRPr>
            </a:pPr>
            <a:r>
              <a:rPr sz="2250">
                <a:solidFill>
                  <a:srgbClr val="0B1220"/>
                </a:solidFill>
              </a:rPr>
              <a:t>The first queue size was conservative at 5: enough for small bursts, not enough for fast larger batches.</a:t>
            </a:r>
          </a:p>
        </p:txBody>
      </p:sp>
    </p:spTree>
    <p:extLst>
      <p:ext uri="{BB962C8B-B14F-4D97-AF65-F5344CB8AC3E}">
        <p14:creationId xmlns:p14="http://schemas.microsoft.com/office/powerpoint/2010/main" val="8832533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589D0D-AF18-4A41-8288-6DC3E2FE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B1220"/>
                </a:solidFill>
              </a:defRPr>
            </a:pPr>
            <a:r>
              <a:rPr sz="4650" b="1">
                <a:solidFill>
                  <a:srgbClr val="0B1220"/>
                </a:solidFill>
              </a:rPr>
              <a:t>Decision needed: how much scan-ahead should production allow?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03A5F51-1A4E-4E4A-A3DE-0AC733E5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8477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475569"/>
                </a:solidFill>
              </a:defRPr>
            </a:pPr>
            <a:r>
              <a:rPr sz="2175">
                <a:solidFill>
                  <a:srgbClr val="475569"/>
                </a:solidFill>
              </a:rPr>
              <a:t>The queue size is a business risk choice, not only a technical setting.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F0DB1-ED54-4D24-B0C3-794B07B9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346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75569"/>
                </a:solidFill>
              </a:defRPr>
            </a:pPr>
            <a:r>
              <a:rPr sz="1800" b="1">
                <a:solidFill>
                  <a:srgbClr val="475569"/>
                </a:solidFill>
              </a:rPr>
              <a:t>Option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A6133-4ACD-4DB1-B804-4978EE8B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76550"/>
            <a:ext cx="6305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75569"/>
                </a:solidFill>
              </a:defRPr>
            </a:pPr>
            <a:r>
              <a:rPr sz="1800" b="1">
                <a:solidFill>
                  <a:srgbClr val="475569"/>
                </a:solidFill>
              </a:rPr>
              <a:t>What it helps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12E45-6012-458F-8B46-4E660C43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876550"/>
            <a:ext cx="6305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75569"/>
                </a:solidFill>
              </a:defRPr>
            </a:pPr>
            <a:r>
              <a:rPr sz="1800" b="1">
                <a:solidFill>
                  <a:srgbClr val="475569"/>
                </a:solidFill>
              </a:rPr>
              <a:t>Tradeoff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F4B1E-4934-496E-9AD5-F0152F32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653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398ED-3A04-4726-8C7E-ABB7368A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346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2C029-5DB4-429B-8717-AFFE1092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6305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Small bursts; lowest behavior change from current production.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8ECCC-FCFC-406A-9E04-310FE268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81400"/>
            <a:ext cx="6305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Still exposes larger fast batches to missed-scan risk.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EB3D0-20A1-43BC-A8D3-32387530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653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72FDE-0450-4DCB-95B2-C8D68E60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346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03C"/>
                </a:solidFill>
              </a:defRPr>
            </a:pPr>
            <a:r>
              <a:rPr sz="1800" b="1">
                <a:solidFill>
                  <a:srgbClr val="16803C"/>
                </a:solidFill>
              </a:rPr>
              <a:t>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B5170-C296-4DBA-89F0-01638F96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19600"/>
            <a:ext cx="6305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Supports real scan-ahead behavior for production batch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E884D-9761-4D5A-A0E2-814ED35A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419600"/>
            <a:ext cx="6305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Requires clear visible queue states and operator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9716F-FFBE-4479-8910-C71DA709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653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5" name="recommendation">
            <a:extLst xmlns:a="http://schemas.openxmlformats.org/drawingml/2006/main">
              <a:ext uri="{FF2B5EF4-FFF2-40B4-BE49-F238E27FC236}">
                <a16:creationId xmlns:a16="http://schemas.microsoft.com/office/drawing/2014/main" id="{B11C9FB7-45D8-4987-BA73-27DBDD08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16535400" cy="1165860"/>
          </a:xfrm>
          <a:prstGeom xmlns:a="http://schemas.openxmlformats.org/drawingml/2006/main" prst="roundRect">
            <a:avLst>
              <a:gd name="adj" fmla="val 11438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86EFA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A44B6-F43F-43B2-99F6-280D01E6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05450"/>
            <a:ext cx="15887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B1220"/>
                </a:solidFill>
              </a:defRPr>
            </a:pPr>
            <a:r>
              <a:rPr sz="2325">
                <a:solidFill>
                  <a:srgbClr val="0B1220"/>
                </a:solidFill>
              </a:rPr>
              <a:t>Recommended direction: approve a larger visible queue for Loading, with pending / processed / failed status visible on screen.</a:t>
            </a:r>
          </a:p>
        </p:txBody>
      </p:sp>
    </p:spTree>
    <p:extLst>
      <p:ext uri="{BB962C8B-B14F-4D97-AF65-F5344CB8AC3E}">
        <p14:creationId xmlns:p14="http://schemas.microsoft.com/office/powerpoint/2010/main" val="1375992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2026-04-29T21:42:11.4590000Z</dcterms:created>
  <dcterms:modified xsi:type="dcterms:W3CDTF">2026-04-29T21:42:11.4590000Z</dcterms:modified>
</coreProperties>
</file>