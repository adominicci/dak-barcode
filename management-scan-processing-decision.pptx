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69"/>
    <p:restoredTop sz="94612"/>
  </p:normalViewPr>
  <p:slideViewPr>
    <p:cSldViewPr snapToGrid="0">
      <p:cViewPr varScale="1">
        <p:scale>
          <a:sx n="130" d="100"/>
          <a:sy n="130" d="100"/>
        </p:scale>
        <p:origin x="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Open with the business point: this is not a scanner hardware problem. It is a workflow and architecture decision about how much scan-ahead behavior we want to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old app feels instant because the scan stays inside the building. The desktop app talks to local SQL across the LAN and the result comes straight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new web workflow has more hops. The client sends the scan to </a:t>
            </a:r>
            <a:r>
              <a:rPr dirty="0" err="1"/>
              <a:t>FastAPI</a:t>
            </a:r>
            <a:r>
              <a:rPr dirty="0"/>
              <a:t>, </a:t>
            </a:r>
            <a:r>
              <a:rPr dirty="0" err="1"/>
              <a:t>FastAPI</a:t>
            </a:r>
            <a:r>
              <a:rPr dirty="0"/>
              <a:t> reaches back to the local SQL servers, and the response returns to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slide explains the real bottleneck. We were processing one scan at a time: accept scan, wait for backend response, refresh loading data, then accept the next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operator experience matters: this felt like a scanner or app problem. The higher-risk case is fast batch scanning, because a missed barcode is hard to identify 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key distinction: a queue is not a performance optimization by itself. It is a reliability and operator-flow improvement. It prevents scans from disappearing while the backend is busy.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Close with the decision. If management wants operators to scan like they did before, a larger visible queue is the practical direction. If they prefer minimal behavior change, keep 5 and accept that it only handles small bursts.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">
            <a:extLst>
              <a:ext uri="{FF2B5EF4-FFF2-40B4-BE49-F238E27FC236}">
                <a16:creationId xmlns:a16="http://schemas.microsoft.com/office/drawing/2014/main" id="{144BAF39-2BBC-41D8-B756-D4C550D18D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6CEEE474-4C34-48D5-9493-163146B3B01E}"/>
              </a:ext>
            </a:extLst>
          </p:cNvPr>
          <p:cNvSpPr>
            <a:spLocks noGrp="1"/>
          </p:cNvSpPr>
          <p:nvPr/>
        </p:nvSpPr>
        <p:spPr>
          <a:xfrm>
            <a:off x="876300" y="1897380"/>
            <a:ext cx="3860673" cy="4419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BC11BC-6DC6-417C-93A5-9F1C81958E03}"/>
              </a:ext>
            </a:extLst>
          </p:cNvPr>
          <p:cNvSpPr>
            <a:spLocks noGrp="1"/>
          </p:cNvSpPr>
          <p:nvPr/>
        </p:nvSpPr>
        <p:spPr>
          <a:xfrm>
            <a:off x="1085850" y="2000250"/>
            <a:ext cx="34480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Barcode scan processing decision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E1E91125-8897-4C2C-9217-78B93B632EA9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10591800" cy="1885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150" b="1">
                <a:solidFill>
                  <a:srgbClr val="0B1220"/>
                </a:solidFill>
              </a:defRPr>
            </a:pPr>
            <a:r>
              <a:rPr sz="6150" b="1">
                <a:solidFill>
                  <a:srgbClr val="0B1220"/>
                </a:solidFill>
              </a:rPr>
              <a:t>Why scans feel slower in the new web workflow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316A086A-077E-45AF-836F-655E82B477D4}"/>
              </a:ext>
            </a:extLst>
          </p:cNvPr>
          <p:cNvSpPr>
            <a:spLocks noGrp="1"/>
          </p:cNvSpPr>
          <p:nvPr/>
        </p:nvSpPr>
        <p:spPr>
          <a:xfrm>
            <a:off x="876300" y="4819650"/>
            <a:ext cx="1034415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475569"/>
                </a:solidFill>
              </a:defRPr>
            </a:pPr>
            <a:r>
              <a:rPr sz="2550">
                <a:solidFill>
                  <a:srgbClr val="475569"/>
                </a:solidFill>
              </a:rPr>
              <a:t>The current Loading flow protects backend consistency, but it creates a short busy window that can miss rapid back-to-back scans.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2F9588-A08F-4FCF-B5FC-A64844080AD8}"/>
              </a:ext>
            </a:extLst>
          </p:cNvPr>
          <p:cNvSpPr>
            <a:spLocks noGrp="1"/>
          </p:cNvSpPr>
          <p:nvPr/>
        </p:nvSpPr>
        <p:spPr>
          <a:xfrm>
            <a:off x="876300" y="6248400"/>
            <a:ext cx="50673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850" b="1">
                <a:solidFill>
                  <a:srgbClr val="EA580C"/>
                </a:solidFill>
              </a:defRPr>
            </a:pPr>
            <a:r>
              <a:rPr sz="5850" b="1">
                <a:solidFill>
                  <a:srgbClr val="EA580C"/>
                </a:solidFill>
              </a:rPr>
              <a:t>2-3 sec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688234-B0DA-4953-85A1-EB39BCB61017}"/>
              </a:ext>
            </a:extLst>
          </p:cNvPr>
          <p:cNvSpPr>
            <a:spLocks noGrp="1"/>
          </p:cNvSpPr>
          <p:nvPr/>
        </p:nvSpPr>
        <p:spPr>
          <a:xfrm>
            <a:off x="876300" y="7219950"/>
            <a:ext cx="5067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0B1220"/>
                </a:solidFill>
              </a:defRPr>
            </a:pPr>
            <a:r>
              <a:rPr sz="1650">
                <a:solidFill>
                  <a:srgbClr val="0B1220"/>
                </a:solidFill>
              </a:rPr>
              <a:t>Typical full scan cycle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20E3B7-95BE-445E-BA60-30B7CD5CF2AC}"/>
              </a:ext>
            </a:extLst>
          </p:cNvPr>
          <p:cNvSpPr>
            <a:spLocks noGrp="1"/>
          </p:cNvSpPr>
          <p:nvPr/>
        </p:nvSpPr>
        <p:spPr>
          <a:xfrm>
            <a:off x="6610350" y="6248400"/>
            <a:ext cx="50673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850" b="1">
                <a:solidFill>
                  <a:srgbClr val="2563EB"/>
                </a:solidFill>
              </a:defRPr>
            </a:pPr>
            <a:r>
              <a:rPr sz="5850" b="1">
                <a:solidFill>
                  <a:srgbClr val="2563EB"/>
                </a:solidFill>
              </a:rPr>
              <a:t>1 at a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01DEE7-FC95-4E8F-B3ED-FC7A17DFFBE8}"/>
              </a:ext>
            </a:extLst>
          </p:cNvPr>
          <p:cNvSpPr>
            <a:spLocks noGrp="1"/>
          </p:cNvSpPr>
          <p:nvPr/>
        </p:nvSpPr>
        <p:spPr>
          <a:xfrm>
            <a:off x="6610350" y="7219950"/>
            <a:ext cx="5067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0B1220"/>
                </a:solidFill>
              </a:defRPr>
            </a:pPr>
            <a:r>
              <a:rPr sz="1650">
                <a:solidFill>
                  <a:srgbClr val="0B1220"/>
                </a:solidFill>
              </a:rPr>
              <a:t>Current processing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6E53E1-9726-447A-BE45-797A5A9BBA08}"/>
              </a:ext>
            </a:extLst>
          </p:cNvPr>
          <p:cNvSpPr>
            <a:spLocks noGrp="1"/>
          </p:cNvSpPr>
          <p:nvPr/>
        </p:nvSpPr>
        <p:spPr>
          <a:xfrm>
            <a:off x="12344400" y="6248400"/>
            <a:ext cx="50673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850" b="1">
                <a:solidFill>
                  <a:srgbClr val="16803C"/>
                </a:solidFill>
              </a:defRPr>
            </a:pPr>
            <a:r>
              <a:rPr sz="5850" b="1">
                <a:solidFill>
                  <a:srgbClr val="16803C"/>
                </a:solidFill>
              </a:rPr>
              <a:t>50?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23966-5676-4472-9FC6-1EB1CC0C9FC1}"/>
              </a:ext>
            </a:extLst>
          </p:cNvPr>
          <p:cNvSpPr>
            <a:spLocks noGrp="1"/>
          </p:cNvSpPr>
          <p:nvPr/>
        </p:nvSpPr>
        <p:spPr>
          <a:xfrm>
            <a:off x="12344400" y="7219950"/>
            <a:ext cx="5067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0B1220"/>
                </a:solidFill>
              </a:defRPr>
            </a:pPr>
            <a:r>
              <a:rPr sz="1650">
                <a:solidFill>
                  <a:srgbClr val="0B1220"/>
                </a:solidFill>
              </a:rPr>
              <a:t>Management queue decision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83B11D-EA30-4CED-8DD8-A47E9190F65D}"/>
              </a:ext>
            </a:extLst>
          </p:cNvPr>
          <p:cNvSpPr>
            <a:spLocks noGrp="1"/>
          </p:cNvSpPr>
          <p:nvPr/>
        </p:nvSpPr>
        <p:spPr>
          <a:xfrm>
            <a:off x="876300" y="8115300"/>
            <a:ext cx="16535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0B1220"/>
                </a:solidFill>
              </a:defRPr>
            </a:pPr>
            <a:r>
              <a:rPr sz="1800">
                <a:solidFill>
                  <a:srgbClr val="0B1220"/>
                </a:solidFill>
              </a:rPr>
              <a:t>Goal: decide how much scan-ahead behavior production should support.</a:t>
            </a:r>
          </a:p>
        </p:txBody>
      </p:sp>
    </p:spTree>
    <p:extLst>
      <p:ext uri="{BB962C8B-B14F-4D97-AF65-F5344CB8AC3E}">
        <p14:creationId xmlns:p14="http://schemas.microsoft.com/office/powerpoint/2010/main" val="740436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ld-local-path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59" y="0"/>
            <a:ext cx="1827828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2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-web-path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59" y="0"/>
            <a:ext cx="1827828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2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4FD1A210-1BD3-4A33-8F67-3BEEF2340373}"/>
              </a:ext>
            </a:extLst>
          </p:cNvPr>
          <p:cNvSpPr>
            <a:spLocks noGrp="1"/>
          </p:cNvSpPr>
          <p:nvPr/>
        </p:nvSpPr>
        <p:spPr>
          <a:xfrm>
            <a:off x="876300" y="66675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What happens after one Loading scan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4746BCF-A11F-4B7B-9035-7CEDCDBCC723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10134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475569"/>
                </a:solidFill>
              </a:defRPr>
            </a:pPr>
            <a:r>
              <a:rPr sz="2175">
                <a:solidFill>
                  <a:srgbClr val="475569"/>
                </a:solidFill>
              </a:rPr>
              <a:t>The app waits for the full backend cycle before it is clearly ready for the next label.</a:t>
            </a:r>
          </a:p>
        </p:txBody>
      </p:sp>
      <p:sp>
        <p:nvSpPr>
          <p:cNvPr id="3" name="step-1. Scan accepted">
            <a:extLst>
              <a:ext uri="{FF2B5EF4-FFF2-40B4-BE49-F238E27FC236}">
                <a16:creationId xmlns:a16="http://schemas.microsoft.com/office/drawing/2014/main" id="{6B10F470-45BB-4B8E-8A88-015B95158485}"/>
              </a:ext>
            </a:extLst>
          </p:cNvPr>
          <p:cNvSpPr>
            <a:spLocks noGrp="1"/>
          </p:cNvSpPr>
          <p:nvPr/>
        </p:nvSpPr>
        <p:spPr>
          <a:xfrm>
            <a:off x="876300" y="4743450"/>
            <a:ext cx="48260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E6CF39E-1151-49E5-AA47-3AACFFFEE9A2}"/>
              </a:ext>
            </a:extLst>
          </p:cNvPr>
          <p:cNvSpPr>
            <a:spLocks noGrp="1"/>
          </p:cNvSpPr>
          <p:nvPr/>
        </p:nvSpPr>
        <p:spPr>
          <a:xfrm>
            <a:off x="1181100" y="49911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716FCF-4978-4A14-A98A-C4057DCAE5D6}"/>
              </a:ext>
            </a:extLst>
          </p:cNvPr>
          <p:cNvSpPr>
            <a:spLocks noGrp="1"/>
          </p:cNvSpPr>
          <p:nvPr/>
        </p:nvSpPr>
        <p:spPr>
          <a:xfrm>
            <a:off x="1504950" y="4972050"/>
            <a:ext cx="3905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 dirty="0">
                <a:solidFill>
                  <a:srgbClr val="0B1220"/>
                </a:solidFill>
              </a:rPr>
              <a:t>1. Scan accepted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D982E-D571-4A8C-B342-F43EE7498A35}"/>
              </a:ext>
            </a:extLst>
          </p:cNvPr>
          <p:cNvSpPr>
            <a:spLocks noGrp="1"/>
          </p:cNvSpPr>
          <p:nvPr/>
        </p:nvSpPr>
        <p:spPr>
          <a:xfrm>
            <a:off x="1504950" y="5295900"/>
            <a:ext cx="3905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600" dirty="0">
                <a:solidFill>
                  <a:srgbClr val="475569"/>
                </a:solidFill>
              </a:rPr>
              <a:t>Scanner input submits one barcode into the Loading page.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723F97-9CBF-4E2E-AB01-DA0EA84D78E2}"/>
              </a:ext>
            </a:extLst>
          </p:cNvPr>
          <p:cNvSpPr>
            <a:spLocks noGrp="1"/>
          </p:cNvSpPr>
          <p:nvPr/>
        </p:nvSpPr>
        <p:spPr>
          <a:xfrm>
            <a:off x="5829300" y="5105400"/>
            <a:ext cx="762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8" name="step-2. Backend work">
            <a:extLst>
              <a:ext uri="{FF2B5EF4-FFF2-40B4-BE49-F238E27FC236}">
                <a16:creationId xmlns:a16="http://schemas.microsoft.com/office/drawing/2014/main" id="{B9430AB3-BFD5-4F39-AEFB-B2C1EB7883A3}"/>
              </a:ext>
            </a:extLst>
          </p:cNvPr>
          <p:cNvSpPr>
            <a:spLocks noGrp="1"/>
          </p:cNvSpPr>
          <p:nvPr/>
        </p:nvSpPr>
        <p:spPr>
          <a:xfrm>
            <a:off x="6731000" y="4743450"/>
            <a:ext cx="48260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1708E4-9DDD-4CCA-90A0-74CB14FFC4B5}"/>
              </a:ext>
            </a:extLst>
          </p:cNvPr>
          <p:cNvSpPr>
            <a:spLocks noGrp="1"/>
          </p:cNvSpPr>
          <p:nvPr/>
        </p:nvSpPr>
        <p:spPr>
          <a:xfrm>
            <a:off x="7010400" y="49911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861FED-1841-466D-A42C-3FC89A45F3DE}"/>
              </a:ext>
            </a:extLst>
          </p:cNvPr>
          <p:cNvSpPr>
            <a:spLocks noGrp="1"/>
          </p:cNvSpPr>
          <p:nvPr/>
        </p:nvSpPr>
        <p:spPr>
          <a:xfrm>
            <a:off x="7353300" y="4972050"/>
            <a:ext cx="3905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>
                <a:solidFill>
                  <a:srgbClr val="0B1220"/>
                </a:solidFill>
              </a:rPr>
              <a:t>2. Backend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53A6BC-ADF5-4984-8E3C-2987F6DDD1DD}"/>
              </a:ext>
            </a:extLst>
          </p:cNvPr>
          <p:cNvSpPr>
            <a:spLocks noGrp="1"/>
          </p:cNvSpPr>
          <p:nvPr/>
        </p:nvSpPr>
        <p:spPr>
          <a:xfrm>
            <a:off x="7353300" y="5295900"/>
            <a:ext cx="3905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App waits for the FastAPI scan response from the SQL-backed process.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581625-FCC3-4E36-A794-2012CBA6CCB1}"/>
              </a:ext>
            </a:extLst>
          </p:cNvPr>
          <p:cNvSpPr>
            <a:spLocks noGrp="1"/>
          </p:cNvSpPr>
          <p:nvPr/>
        </p:nvSpPr>
        <p:spPr>
          <a:xfrm>
            <a:off x="11696700" y="5105400"/>
            <a:ext cx="762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3" name="step-3. Data refresh">
            <a:extLst>
              <a:ext uri="{FF2B5EF4-FFF2-40B4-BE49-F238E27FC236}">
                <a16:creationId xmlns:a16="http://schemas.microsoft.com/office/drawing/2014/main" id="{F9DD4F5B-0EF1-4379-A698-86BB78FD0473}"/>
              </a:ext>
            </a:extLst>
          </p:cNvPr>
          <p:cNvSpPr>
            <a:spLocks noGrp="1"/>
          </p:cNvSpPr>
          <p:nvPr/>
        </p:nvSpPr>
        <p:spPr>
          <a:xfrm>
            <a:off x="12585700" y="4743450"/>
            <a:ext cx="48260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9C61FB1-9142-43C4-A804-2192609664C8}"/>
              </a:ext>
            </a:extLst>
          </p:cNvPr>
          <p:cNvSpPr>
            <a:spLocks noGrp="1"/>
          </p:cNvSpPr>
          <p:nvPr/>
        </p:nvSpPr>
        <p:spPr>
          <a:xfrm>
            <a:off x="12877800" y="49911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041887-3300-4A43-B301-3E3F6420EE19}"/>
              </a:ext>
            </a:extLst>
          </p:cNvPr>
          <p:cNvSpPr>
            <a:spLocks noGrp="1"/>
          </p:cNvSpPr>
          <p:nvPr/>
        </p:nvSpPr>
        <p:spPr>
          <a:xfrm>
            <a:off x="13220700" y="4972050"/>
            <a:ext cx="3905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000" b="1">
                <a:solidFill>
                  <a:srgbClr val="0B1220"/>
                </a:solidFill>
              </a:rPr>
              <a:t>3. Data refresh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0FF4FC-F622-4D70-9BE0-F4F0071E39C4}"/>
              </a:ext>
            </a:extLst>
          </p:cNvPr>
          <p:cNvSpPr>
            <a:spLocks noGrp="1"/>
          </p:cNvSpPr>
          <p:nvPr/>
        </p:nvSpPr>
        <p:spPr>
          <a:xfrm>
            <a:off x="13220700" y="5295900"/>
            <a:ext cx="3905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Loading data refreshes, then the input is ready again.</a:t>
            </a:r>
          </a:p>
        </p:txBody>
      </p:sp>
      <p:sp>
        <p:nvSpPr>
          <p:cNvPr id="17" name="cycle-callout">
            <a:extLst>
              <a:ext uri="{FF2B5EF4-FFF2-40B4-BE49-F238E27FC236}">
                <a16:creationId xmlns:a16="http://schemas.microsoft.com/office/drawing/2014/main" id="{EB426B9A-D57B-4EB1-A810-1DC141FEADC3}"/>
              </a:ext>
            </a:extLst>
          </p:cNvPr>
          <p:cNvSpPr>
            <a:spLocks noGrp="1"/>
          </p:cNvSpPr>
          <p:nvPr/>
        </p:nvSpPr>
        <p:spPr>
          <a:xfrm>
            <a:off x="876300" y="8858250"/>
            <a:ext cx="16535400" cy="762000"/>
          </a:xfrm>
          <a:prstGeom prst="roundRect">
            <a:avLst>
              <a:gd name="adj" fmla="val 17500"/>
            </a:avLst>
          </a:prstGeom>
          <a:solidFill>
            <a:srgbClr val="FFF7ED"/>
          </a:solidFill>
          <a:ln w="1905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F93603-835C-43EA-954B-33F4B102A4ED}"/>
              </a:ext>
            </a:extLst>
          </p:cNvPr>
          <p:cNvSpPr>
            <a:spLocks noGrp="1"/>
          </p:cNvSpPr>
          <p:nvPr/>
        </p:nvSpPr>
        <p:spPr>
          <a:xfrm>
            <a:off x="1200150" y="9067800"/>
            <a:ext cx="15887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0B1220"/>
                </a:solidFill>
              </a:defRPr>
            </a:pPr>
            <a:r>
              <a:rPr sz="2400" dirty="0">
                <a:solidFill>
                  <a:srgbClr val="0B1220"/>
                </a:solidFill>
              </a:rPr>
              <a:t>In real use, that full cycle could take around 2-3 seconds. During that window, the scanner input was effectively busy.</a:t>
            </a:r>
          </a:p>
        </p:txBody>
      </p:sp>
    </p:spTree>
    <p:extLst>
      <p:ext uri="{BB962C8B-B14F-4D97-AF65-F5344CB8AC3E}">
        <p14:creationId xmlns:p14="http://schemas.microsoft.com/office/powerpoint/2010/main" val="48125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title">
            <a:extLst>
              <a:ext uri="{FF2B5EF4-FFF2-40B4-BE49-F238E27FC236}">
                <a16:creationId xmlns:a16="http://schemas.microsoft.com/office/drawing/2014/main" id="{6A848129-C54C-4B41-9088-8B11FC6C396E}"/>
              </a:ext>
            </a:extLst>
          </p:cNvPr>
          <p:cNvSpPr>
            <a:spLocks noGrp="1"/>
          </p:cNvSpPr>
          <p:nvPr/>
        </p:nvSpPr>
        <p:spPr>
          <a:xfrm>
            <a:off x="876300" y="66675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B1220"/>
                </a:solidFill>
              </a:defRPr>
            </a:pPr>
            <a:r>
              <a:rPr sz="4650" b="1" dirty="0">
                <a:solidFill>
                  <a:srgbClr val="0B1220"/>
                </a:solidFill>
              </a:rPr>
              <a:t>Why operators experienced lag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5B3BD30-0878-428C-91CC-04690EEE91CE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93916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475569"/>
                </a:solidFill>
              </a:defRPr>
            </a:pPr>
            <a:r>
              <a:rPr sz="2175" dirty="0">
                <a:solidFill>
                  <a:srgbClr val="475569"/>
                </a:solidFill>
              </a:rPr>
              <a:t>The issue was most visible when labels were scanned back-to-back quickly.</a:t>
            </a:r>
          </a:p>
        </p:txBody>
      </p:sp>
      <p:sp>
        <p:nvSpPr>
          <p:cNvPr id="3" name="step-Busy window">
            <a:extLst>
              <a:ext uri="{FF2B5EF4-FFF2-40B4-BE49-F238E27FC236}">
                <a16:creationId xmlns:a16="http://schemas.microsoft.com/office/drawing/2014/main" id="{A8562293-C346-4395-A677-F9B30C666795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8086725" cy="2193290"/>
          </a:xfrm>
          <a:prstGeom prst="roundRect">
            <a:avLst>
              <a:gd name="adj" fmla="val 521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BFB5D7F-F89C-44C8-91A9-2E65D0708D19}"/>
              </a:ext>
            </a:extLst>
          </p:cNvPr>
          <p:cNvSpPr>
            <a:spLocks noGrp="1"/>
          </p:cNvSpPr>
          <p:nvPr/>
        </p:nvSpPr>
        <p:spPr>
          <a:xfrm>
            <a:off x="1181100" y="27432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78D2FA-2F7C-4FC9-A042-E27886017E8D}"/>
              </a:ext>
            </a:extLst>
          </p:cNvPr>
          <p:cNvSpPr>
            <a:spLocks noGrp="1"/>
          </p:cNvSpPr>
          <p:nvPr/>
        </p:nvSpPr>
        <p:spPr>
          <a:xfrm>
            <a:off x="1504950" y="2819400"/>
            <a:ext cx="718185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400" b="1" dirty="0">
                <a:solidFill>
                  <a:srgbClr val="0B1220"/>
                </a:solidFill>
              </a:rPr>
              <a:t>Busy window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ADE5D9-5FA9-4C72-A6ED-8BA143A3B62D}"/>
              </a:ext>
            </a:extLst>
          </p:cNvPr>
          <p:cNvSpPr>
            <a:spLocks/>
          </p:cNvSpPr>
          <p:nvPr/>
        </p:nvSpPr>
        <p:spPr>
          <a:xfrm>
            <a:off x="1504950" y="3333750"/>
            <a:ext cx="718185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2000" dirty="0">
                <a:solidFill>
                  <a:srgbClr val="475569"/>
                </a:solidFill>
              </a:rPr>
              <a:t>While one scan was processing, another scan could arrive too early.</a:t>
            </a:r>
          </a:p>
        </p:txBody>
      </p:sp>
      <p:sp>
        <p:nvSpPr>
          <p:cNvPr id="7" name="step-Missed label risk">
            <a:extLst>
              <a:ext uri="{FF2B5EF4-FFF2-40B4-BE49-F238E27FC236}">
                <a16:creationId xmlns:a16="http://schemas.microsoft.com/office/drawing/2014/main" id="{CC465395-5C30-46A5-8652-5FE6D79422AA}"/>
              </a:ext>
            </a:extLst>
          </p:cNvPr>
          <p:cNvSpPr>
            <a:spLocks noGrp="1"/>
          </p:cNvSpPr>
          <p:nvPr/>
        </p:nvSpPr>
        <p:spPr>
          <a:xfrm>
            <a:off x="9324975" y="2495550"/>
            <a:ext cx="8086725" cy="2193290"/>
          </a:xfrm>
          <a:prstGeom prst="roundRect">
            <a:avLst>
              <a:gd name="adj" fmla="val 521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85A35C-BEFF-4A01-9B89-8387750068F8}"/>
              </a:ext>
            </a:extLst>
          </p:cNvPr>
          <p:cNvSpPr>
            <a:spLocks noGrp="1"/>
          </p:cNvSpPr>
          <p:nvPr/>
        </p:nvSpPr>
        <p:spPr>
          <a:xfrm>
            <a:off x="9601200" y="27432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00041C-C8B7-4AE6-ABFE-628705F99575}"/>
              </a:ext>
            </a:extLst>
          </p:cNvPr>
          <p:cNvSpPr>
            <a:spLocks noGrp="1"/>
          </p:cNvSpPr>
          <p:nvPr/>
        </p:nvSpPr>
        <p:spPr>
          <a:xfrm>
            <a:off x="9963150" y="2819400"/>
            <a:ext cx="718185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400" b="1" dirty="0">
                <a:solidFill>
                  <a:srgbClr val="0B1220"/>
                </a:solidFill>
              </a:rPr>
              <a:t>Missed label risk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7F604A-C35B-4AAD-81B7-C1868B48D6E8}"/>
              </a:ext>
            </a:extLst>
          </p:cNvPr>
          <p:cNvSpPr>
            <a:spLocks noGrp="1"/>
          </p:cNvSpPr>
          <p:nvPr/>
        </p:nvSpPr>
        <p:spPr>
          <a:xfrm>
            <a:off x="9963150" y="3333750"/>
            <a:ext cx="7181850" cy="61555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2000" dirty="0">
                <a:solidFill>
                  <a:srgbClr val="475569"/>
                </a:solidFill>
              </a:rPr>
              <a:t>If a second label arrived during that window, the app could ignore or miss it.</a:t>
            </a:r>
          </a:p>
        </p:txBody>
      </p:sp>
      <p:sp>
        <p:nvSpPr>
          <p:cNvPr id="11" name="step-No busy signal">
            <a:extLst>
              <a:ext uri="{FF2B5EF4-FFF2-40B4-BE49-F238E27FC236}">
                <a16:creationId xmlns:a16="http://schemas.microsoft.com/office/drawing/2014/main" id="{40F801B2-01EA-42B6-AB30-243658A61466}"/>
              </a:ext>
            </a:extLst>
          </p:cNvPr>
          <p:cNvSpPr>
            <a:spLocks noGrp="1"/>
          </p:cNvSpPr>
          <p:nvPr/>
        </p:nvSpPr>
        <p:spPr>
          <a:xfrm>
            <a:off x="876300" y="4936490"/>
            <a:ext cx="8086725" cy="224282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238407-D27E-402A-BE1E-9917FF60A5F3}"/>
              </a:ext>
            </a:extLst>
          </p:cNvPr>
          <p:cNvSpPr>
            <a:spLocks noGrp="1"/>
          </p:cNvSpPr>
          <p:nvPr/>
        </p:nvSpPr>
        <p:spPr>
          <a:xfrm>
            <a:off x="1181100" y="51816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D45250-D7F6-4CE6-B2E5-47DE5D1EFF70}"/>
              </a:ext>
            </a:extLst>
          </p:cNvPr>
          <p:cNvSpPr>
            <a:spLocks noGrp="1"/>
          </p:cNvSpPr>
          <p:nvPr/>
        </p:nvSpPr>
        <p:spPr>
          <a:xfrm>
            <a:off x="1504950" y="5162550"/>
            <a:ext cx="718185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400" b="1">
                <a:solidFill>
                  <a:srgbClr val="0B1220"/>
                </a:solidFill>
              </a:rPr>
              <a:t>No busy signal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B7224-96E7-4E59-848E-7D907A663EC2}"/>
              </a:ext>
            </a:extLst>
          </p:cNvPr>
          <p:cNvSpPr>
            <a:spLocks noGrp="1"/>
          </p:cNvSpPr>
          <p:nvPr/>
        </p:nvSpPr>
        <p:spPr>
          <a:xfrm>
            <a:off x="1504950" y="5748183"/>
            <a:ext cx="7181850" cy="61555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2000" dirty="0">
                <a:solidFill>
                  <a:srgbClr val="475569"/>
                </a:solidFill>
              </a:rPr>
              <a:t>There was no clear on-screen state showing the app was unable to accept the next scan.</a:t>
            </a:r>
          </a:p>
        </p:txBody>
      </p:sp>
      <p:sp>
        <p:nvSpPr>
          <p:cNvPr id="15" name="step-No queue visibility">
            <a:extLst>
              <a:ext uri="{FF2B5EF4-FFF2-40B4-BE49-F238E27FC236}">
                <a16:creationId xmlns:a16="http://schemas.microsoft.com/office/drawing/2014/main" id="{88D86D2A-A4D7-40EC-80FA-35605C5B92A5}"/>
              </a:ext>
            </a:extLst>
          </p:cNvPr>
          <p:cNvSpPr>
            <a:spLocks noGrp="1"/>
          </p:cNvSpPr>
          <p:nvPr/>
        </p:nvSpPr>
        <p:spPr>
          <a:xfrm>
            <a:off x="9324975" y="4865206"/>
            <a:ext cx="8086725" cy="2242820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081F98B-2AB0-49DF-BA8B-5E7BF10CA9B6}"/>
              </a:ext>
            </a:extLst>
          </p:cNvPr>
          <p:cNvSpPr>
            <a:spLocks noGrp="1"/>
          </p:cNvSpPr>
          <p:nvPr/>
        </p:nvSpPr>
        <p:spPr>
          <a:xfrm>
            <a:off x="9601200" y="51816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F97AFF-FCA6-4554-8A92-F918448BB4C6}"/>
              </a:ext>
            </a:extLst>
          </p:cNvPr>
          <p:cNvSpPr>
            <a:spLocks noGrp="1"/>
          </p:cNvSpPr>
          <p:nvPr/>
        </p:nvSpPr>
        <p:spPr>
          <a:xfrm>
            <a:off x="9963150" y="5257800"/>
            <a:ext cx="718185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400" b="1">
                <a:solidFill>
                  <a:srgbClr val="0B1220"/>
                </a:solidFill>
              </a:rPr>
              <a:t>No queue visibility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EFABAD-9DC2-4491-A0C8-D514E4F449B0}"/>
              </a:ext>
            </a:extLst>
          </p:cNvPr>
          <p:cNvSpPr>
            <a:spLocks noGrp="1"/>
          </p:cNvSpPr>
          <p:nvPr/>
        </p:nvSpPr>
        <p:spPr>
          <a:xfrm>
            <a:off x="9963150" y="5843434"/>
            <a:ext cx="7181850" cy="61555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2000">
                <a:solidFill>
                  <a:srgbClr val="475569"/>
                </a:solidFill>
              </a:rPr>
              <a:t>Operators could not see which scans were waiting, processed, or failed.</a:t>
            </a:r>
          </a:p>
        </p:txBody>
      </p:sp>
      <p:sp>
        <p:nvSpPr>
          <p:cNvPr id="19" name="step-Barcode reality">
            <a:extLst>
              <a:ext uri="{FF2B5EF4-FFF2-40B4-BE49-F238E27FC236}">
                <a16:creationId xmlns:a16="http://schemas.microsoft.com/office/drawing/2014/main" id="{DCD77DB3-7EB7-45D4-B89F-165E848A1141}"/>
              </a:ext>
            </a:extLst>
          </p:cNvPr>
          <p:cNvSpPr>
            <a:spLocks noGrp="1"/>
          </p:cNvSpPr>
          <p:nvPr/>
        </p:nvSpPr>
        <p:spPr>
          <a:xfrm>
            <a:off x="876300" y="7426960"/>
            <a:ext cx="8086725" cy="2193290"/>
          </a:xfrm>
          <a:prstGeom prst="roundRect">
            <a:avLst>
              <a:gd name="adj" fmla="val 521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80114E-445C-483F-A39B-7B032D36DE04}"/>
              </a:ext>
            </a:extLst>
          </p:cNvPr>
          <p:cNvSpPr>
            <a:spLocks noGrp="1"/>
          </p:cNvSpPr>
          <p:nvPr/>
        </p:nvSpPr>
        <p:spPr>
          <a:xfrm>
            <a:off x="1181100" y="76581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889F24-842C-43EA-8767-00100309EC4F}"/>
              </a:ext>
            </a:extLst>
          </p:cNvPr>
          <p:cNvSpPr>
            <a:spLocks noGrp="1"/>
          </p:cNvSpPr>
          <p:nvPr/>
        </p:nvSpPr>
        <p:spPr>
          <a:xfrm>
            <a:off x="1504950" y="7734300"/>
            <a:ext cx="718185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400" b="1">
                <a:solidFill>
                  <a:srgbClr val="0B1220"/>
                </a:solidFill>
              </a:rPr>
              <a:t>Barcode reality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939A4-D776-44EC-BF34-F817A0F19D11}"/>
              </a:ext>
            </a:extLst>
          </p:cNvPr>
          <p:cNvSpPr>
            <a:spLocks noGrp="1"/>
          </p:cNvSpPr>
          <p:nvPr/>
        </p:nvSpPr>
        <p:spPr>
          <a:xfrm>
            <a:off x="1504950" y="8319934"/>
            <a:ext cx="7181850" cy="61555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2000">
                <a:solidFill>
                  <a:srgbClr val="475569"/>
                </a:solidFill>
              </a:rPr>
              <a:t>If a scan is missed, operators cannot reliably know which barcode needs to be repeated.</a:t>
            </a:r>
          </a:p>
        </p:txBody>
      </p:sp>
      <p:sp>
        <p:nvSpPr>
          <p:cNvPr id="23" name="step-Old workflow perception">
            <a:extLst>
              <a:ext uri="{FF2B5EF4-FFF2-40B4-BE49-F238E27FC236}">
                <a16:creationId xmlns:a16="http://schemas.microsoft.com/office/drawing/2014/main" id="{1FF4BA2B-E231-4443-8550-E78005443FCE}"/>
              </a:ext>
            </a:extLst>
          </p:cNvPr>
          <p:cNvSpPr>
            <a:spLocks noGrp="1"/>
          </p:cNvSpPr>
          <p:nvPr/>
        </p:nvSpPr>
        <p:spPr>
          <a:xfrm>
            <a:off x="9324975" y="7426960"/>
            <a:ext cx="8086725" cy="2193290"/>
          </a:xfrm>
          <a:prstGeom prst="roundRect">
            <a:avLst>
              <a:gd name="adj" fmla="val 521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D00D16D-5749-4281-9634-A2DB904686BC}"/>
              </a:ext>
            </a:extLst>
          </p:cNvPr>
          <p:cNvSpPr>
            <a:spLocks noGrp="1"/>
          </p:cNvSpPr>
          <p:nvPr/>
        </p:nvSpPr>
        <p:spPr>
          <a:xfrm>
            <a:off x="9601200" y="7658100"/>
            <a:ext cx="152400" cy="7048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A0C074-C887-4C45-9BC3-8D5CA51BD4DC}"/>
              </a:ext>
            </a:extLst>
          </p:cNvPr>
          <p:cNvSpPr>
            <a:spLocks noGrp="1"/>
          </p:cNvSpPr>
          <p:nvPr/>
        </p:nvSpPr>
        <p:spPr>
          <a:xfrm>
            <a:off x="9963150" y="7734300"/>
            <a:ext cx="718185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 sz="1725" b="1">
                <a:solidFill>
                  <a:srgbClr val="0B1220"/>
                </a:solidFill>
              </a:defRPr>
            </a:pPr>
            <a:r>
              <a:rPr sz="2400" b="1">
                <a:solidFill>
                  <a:srgbClr val="0B1220"/>
                </a:solidFill>
              </a:rPr>
              <a:t>Old workflow perception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98C71B-8162-4CE8-A1F5-AA728A4CE48F}"/>
              </a:ext>
            </a:extLst>
          </p:cNvPr>
          <p:cNvSpPr>
            <a:spLocks noGrp="1"/>
          </p:cNvSpPr>
          <p:nvPr/>
        </p:nvSpPr>
        <p:spPr>
          <a:xfrm>
            <a:off x="9963150" y="8319934"/>
            <a:ext cx="7181850" cy="61555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 sz="1425">
                <a:solidFill>
                  <a:srgbClr val="475569"/>
                </a:solidFill>
              </a:defRPr>
            </a:pPr>
            <a:r>
              <a:rPr sz="2000" dirty="0">
                <a:solidFill>
                  <a:srgbClr val="475569"/>
                </a:solidFill>
              </a:rPr>
              <a:t>The old app let operators keep scanning without noticing the same dead time.</a:t>
            </a:r>
          </a:p>
        </p:txBody>
      </p:sp>
    </p:spTree>
    <p:extLst>
      <p:ext uri="{BB962C8B-B14F-4D97-AF65-F5344CB8AC3E}">
        <p14:creationId xmlns:p14="http://schemas.microsoft.com/office/powerpoint/2010/main" val="1864103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E6C0F45B-F855-4103-840D-9414E1F8D0F6}"/>
              </a:ext>
            </a:extLst>
          </p:cNvPr>
          <p:cNvSpPr>
            <a:spLocks noGrp="1"/>
          </p:cNvSpPr>
          <p:nvPr/>
        </p:nvSpPr>
        <p:spPr>
          <a:xfrm>
            <a:off x="876300" y="66675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What the queue change is meant to fix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E1C3564-5F19-43B6-8694-7CFD0A958E72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11410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475569"/>
                </a:solidFill>
              </a:defRPr>
            </a:pPr>
            <a:r>
              <a:rPr sz="2175">
                <a:solidFill>
                  <a:srgbClr val="475569"/>
                </a:solidFill>
              </a:rPr>
              <a:t>A queue does not make the backend instant. It protects scans entered while the app is busy.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E69C02-BCBB-49BF-B4BF-5378ECFA1BB7}"/>
              </a:ext>
            </a:extLst>
          </p:cNvPr>
          <p:cNvSpPr>
            <a:spLocks noGrp="1"/>
          </p:cNvSpPr>
          <p:nvPr/>
        </p:nvSpPr>
        <p:spPr>
          <a:xfrm>
            <a:off x="876300" y="4972049"/>
            <a:ext cx="4800600" cy="2283385"/>
          </a:xfrm>
          <a:prstGeom prst="roundRect">
            <a:avLst>
              <a:gd name="adj" fmla="val 8750"/>
            </a:avLst>
          </a:prstGeom>
          <a:solidFill>
            <a:srgbClr val="ECFDF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B17442-75A4-4BCA-BE13-194FD8F2F0F7}"/>
              </a:ext>
            </a:extLst>
          </p:cNvPr>
          <p:cNvSpPr>
            <a:spLocks noGrp="1"/>
          </p:cNvSpPr>
          <p:nvPr/>
        </p:nvSpPr>
        <p:spPr>
          <a:xfrm>
            <a:off x="1181100" y="5257800"/>
            <a:ext cx="4191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B1220"/>
                </a:solidFill>
              </a:defRPr>
            </a:pPr>
            <a:r>
              <a:rPr sz="3200" b="1" dirty="0">
                <a:solidFill>
                  <a:srgbClr val="0B1220"/>
                </a:solidFill>
              </a:rPr>
              <a:t>Scan ahead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C10C6A-C8D2-41C1-BE49-A4DBEE70D0D5}"/>
              </a:ext>
            </a:extLst>
          </p:cNvPr>
          <p:cNvSpPr>
            <a:spLocks noGrp="1"/>
          </p:cNvSpPr>
          <p:nvPr/>
        </p:nvSpPr>
        <p:spPr>
          <a:xfrm>
            <a:off x="1181100" y="6208991"/>
            <a:ext cx="4191000" cy="771911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2000" dirty="0">
                <a:solidFill>
                  <a:srgbClr val="475569"/>
                </a:solidFill>
              </a:rPr>
              <a:t>Operator can scan while the prior label is still processing.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9470E-1A40-4F50-AE29-ADF3EC8A5BB3}"/>
              </a:ext>
            </a:extLst>
          </p:cNvPr>
          <p:cNvSpPr>
            <a:spLocks noGrp="1"/>
          </p:cNvSpPr>
          <p:nvPr/>
        </p:nvSpPr>
        <p:spPr>
          <a:xfrm>
            <a:off x="5829300" y="5486400"/>
            <a:ext cx="762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79CE72-57E0-4E77-9331-C403E7CC2325}"/>
              </a:ext>
            </a:extLst>
          </p:cNvPr>
          <p:cNvSpPr>
            <a:spLocks noGrp="1"/>
          </p:cNvSpPr>
          <p:nvPr/>
        </p:nvSpPr>
        <p:spPr>
          <a:xfrm>
            <a:off x="6743700" y="4972049"/>
            <a:ext cx="4800600" cy="2283385"/>
          </a:xfrm>
          <a:prstGeom prst="roundRect">
            <a:avLst>
              <a:gd name="adj" fmla="val 8750"/>
            </a:avLst>
          </a:prstGeom>
          <a:solidFill>
            <a:srgbClr val="EFF6FF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62DB20-8AF3-477E-B50F-6519905D7815}"/>
              </a:ext>
            </a:extLst>
          </p:cNvPr>
          <p:cNvSpPr>
            <a:spLocks noGrp="1"/>
          </p:cNvSpPr>
          <p:nvPr/>
        </p:nvSpPr>
        <p:spPr>
          <a:xfrm>
            <a:off x="7048500" y="5257800"/>
            <a:ext cx="4191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B1220"/>
                </a:solidFill>
              </a:defRPr>
            </a:pPr>
            <a:r>
              <a:rPr sz="3200" b="1">
                <a:solidFill>
                  <a:srgbClr val="0B1220"/>
                </a:solidFill>
              </a:rPr>
              <a:t>Visible queue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390A4B-2B5F-4E53-ACF3-7777C52E8268}"/>
              </a:ext>
            </a:extLst>
          </p:cNvPr>
          <p:cNvSpPr>
            <a:spLocks noGrp="1"/>
          </p:cNvSpPr>
          <p:nvPr/>
        </p:nvSpPr>
        <p:spPr>
          <a:xfrm>
            <a:off x="7048500" y="6208991"/>
            <a:ext cx="4191000" cy="771911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2000">
                <a:solidFill>
                  <a:srgbClr val="475569"/>
                </a:solidFill>
              </a:rPr>
              <a:t>The app holds waiting scans and shows pending, processed, and failed states.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CE3611-9965-4947-903A-235588C1ABFB}"/>
              </a:ext>
            </a:extLst>
          </p:cNvPr>
          <p:cNvSpPr>
            <a:spLocks noGrp="1"/>
          </p:cNvSpPr>
          <p:nvPr/>
        </p:nvSpPr>
        <p:spPr>
          <a:xfrm>
            <a:off x="11696700" y="5486400"/>
            <a:ext cx="762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8A17F16-86CB-431B-BE82-AD41F7146A7C}"/>
              </a:ext>
            </a:extLst>
          </p:cNvPr>
          <p:cNvSpPr>
            <a:spLocks noGrp="1"/>
          </p:cNvSpPr>
          <p:nvPr/>
        </p:nvSpPr>
        <p:spPr>
          <a:xfrm>
            <a:off x="12611100" y="4838699"/>
            <a:ext cx="4800600" cy="2682977"/>
          </a:xfrm>
          <a:prstGeom prst="roundRect">
            <a:avLst>
              <a:gd name="adj" fmla="val 7447"/>
            </a:avLst>
          </a:prstGeom>
          <a:solidFill>
            <a:srgbClr val="FFF7ED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25EE47-0399-456F-B3BA-A443BE196C13}"/>
              </a:ext>
            </a:extLst>
          </p:cNvPr>
          <p:cNvSpPr>
            <a:spLocks noGrp="1"/>
          </p:cNvSpPr>
          <p:nvPr/>
        </p:nvSpPr>
        <p:spPr>
          <a:xfrm>
            <a:off x="12915900" y="5124450"/>
            <a:ext cx="4191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B1220"/>
                </a:solidFill>
              </a:defRPr>
            </a:pPr>
            <a:r>
              <a:rPr sz="3200" b="1" dirty="0">
                <a:solidFill>
                  <a:srgbClr val="0B1220"/>
                </a:solidFill>
              </a:rPr>
              <a:t>One-by-one backend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536EB8-35F0-4446-BE60-8D13BA8557AF}"/>
              </a:ext>
            </a:extLst>
          </p:cNvPr>
          <p:cNvSpPr>
            <a:spLocks noGrp="1"/>
          </p:cNvSpPr>
          <p:nvPr/>
        </p:nvSpPr>
        <p:spPr>
          <a:xfrm>
            <a:off x="12915900" y="6075642"/>
            <a:ext cx="4191000" cy="1143572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2000">
                <a:solidFill>
                  <a:srgbClr val="475569"/>
                </a:solidFill>
              </a:rPr>
              <a:t>The backend still processes in order, reducing missed scans without changing core scan behavior.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73D1C5-5914-4A52-9395-0DCB387776F8}"/>
              </a:ext>
            </a:extLst>
          </p:cNvPr>
          <p:cNvSpPr>
            <a:spLocks noGrp="1"/>
          </p:cNvSpPr>
          <p:nvPr/>
        </p:nvSpPr>
        <p:spPr>
          <a:xfrm>
            <a:off x="876300" y="8496300"/>
            <a:ext cx="16535400" cy="1326126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0B1220"/>
                </a:solidFill>
              </a:defRPr>
            </a:pPr>
            <a:r>
              <a:rPr sz="3600">
                <a:solidFill>
                  <a:srgbClr val="0B1220"/>
                </a:solidFill>
              </a:rPr>
              <a:t>The first queue size was conservative at 5: enough for small bursts, not enough for fast larger batches.</a:t>
            </a:r>
          </a:p>
        </p:txBody>
      </p:sp>
    </p:spTree>
    <p:extLst>
      <p:ext uri="{BB962C8B-B14F-4D97-AF65-F5344CB8AC3E}">
        <p14:creationId xmlns:p14="http://schemas.microsoft.com/office/powerpoint/2010/main" val="88325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BD589D0D-AF18-4A41-8288-6DC3E2FE9D7D}"/>
              </a:ext>
            </a:extLst>
          </p:cNvPr>
          <p:cNvSpPr>
            <a:spLocks noGrp="1"/>
          </p:cNvSpPr>
          <p:nvPr/>
        </p:nvSpPr>
        <p:spPr>
          <a:xfrm>
            <a:off x="876300" y="666750"/>
            <a:ext cx="165354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Decision needed: how much scan-ahead should production allow?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03A5F51-1A4E-4E4A-A3DE-0AC733E56200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8477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475569"/>
                </a:solidFill>
              </a:defRPr>
            </a:pPr>
            <a:r>
              <a:rPr sz="2175">
                <a:solidFill>
                  <a:srgbClr val="475569"/>
                </a:solidFill>
              </a:rPr>
              <a:t>The queue size is a business risk choice, not only a technical setting.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4F0DB1-ED54-4D24-B0C3-794B07B9C279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3467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sz="1800" b="1">
                <a:solidFill>
                  <a:srgbClr val="475569"/>
                </a:solidFill>
              </a:rPr>
              <a:t>Option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CA6133-4ACD-4DB1-B804-4978EE8B5C65}"/>
              </a:ext>
            </a:extLst>
          </p:cNvPr>
          <p:cNvSpPr>
            <a:spLocks noGrp="1"/>
          </p:cNvSpPr>
          <p:nvPr/>
        </p:nvSpPr>
        <p:spPr>
          <a:xfrm>
            <a:off x="4572000" y="2876550"/>
            <a:ext cx="6305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sz="1800" b="1">
                <a:solidFill>
                  <a:srgbClr val="475569"/>
                </a:solidFill>
              </a:rPr>
              <a:t>What it helps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A12E45-6012-458F-8B46-4E660C43FF82}"/>
              </a:ext>
            </a:extLst>
          </p:cNvPr>
          <p:cNvSpPr>
            <a:spLocks noGrp="1"/>
          </p:cNvSpPr>
          <p:nvPr/>
        </p:nvSpPr>
        <p:spPr>
          <a:xfrm>
            <a:off x="11106150" y="2876550"/>
            <a:ext cx="6305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475569"/>
                </a:solidFill>
              </a:defRPr>
            </a:pPr>
            <a:r>
              <a:rPr sz="1800" b="1">
                <a:solidFill>
                  <a:srgbClr val="475569"/>
                </a:solidFill>
              </a:rPr>
              <a:t>Tradeoff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2F4B1E-4934-496E-9AD5-F0152F320A0D}"/>
              </a:ext>
            </a:extLst>
          </p:cNvPr>
          <p:cNvSpPr>
            <a:spLocks noGrp="1"/>
          </p:cNvSpPr>
          <p:nvPr/>
        </p:nvSpPr>
        <p:spPr>
          <a:xfrm>
            <a:off x="876300" y="3276600"/>
            <a:ext cx="16535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7398ED-3A04-4726-8C7E-ABB7368A1D31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3467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EA580C"/>
                </a:solidFill>
              </a:defRPr>
            </a:pPr>
            <a:r>
              <a:rPr sz="2000" b="1" dirty="0">
                <a:solidFill>
                  <a:srgbClr val="EA580C"/>
                </a:solidFill>
              </a:rPr>
              <a:t>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12C029-5DB4-429B-8717-AFFE10929260}"/>
              </a:ext>
            </a:extLst>
          </p:cNvPr>
          <p:cNvSpPr>
            <a:spLocks noGrp="1"/>
          </p:cNvSpPr>
          <p:nvPr/>
        </p:nvSpPr>
        <p:spPr>
          <a:xfrm>
            <a:off x="4572000" y="3581400"/>
            <a:ext cx="6305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sz="1600" dirty="0">
                <a:solidFill>
                  <a:srgbClr val="475569"/>
                </a:solidFill>
              </a:rPr>
              <a:t>Small bursts; lowest behavior change from current production.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88ECCC-FCFC-406A-9E04-310FE2689DC7}"/>
              </a:ext>
            </a:extLst>
          </p:cNvPr>
          <p:cNvSpPr>
            <a:spLocks noGrp="1"/>
          </p:cNvSpPr>
          <p:nvPr/>
        </p:nvSpPr>
        <p:spPr>
          <a:xfrm>
            <a:off x="11106150" y="3581400"/>
            <a:ext cx="6305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Still exposes larger fast batches to missed-scan risk.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5EB3D0-20A1-43BC-A8D3-32387530F20A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16535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72FDE-0450-4DCB-95B2-C8D68E607033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3467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6803C"/>
                </a:solidFill>
              </a:defRPr>
            </a:pPr>
            <a:r>
              <a:rPr sz="2000" b="1">
                <a:solidFill>
                  <a:srgbClr val="16803C"/>
                </a:solidFill>
              </a:rPr>
              <a:t>50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B5170-C296-4DBA-89F0-01638F963D0D}"/>
              </a:ext>
            </a:extLst>
          </p:cNvPr>
          <p:cNvSpPr>
            <a:spLocks noGrp="1"/>
          </p:cNvSpPr>
          <p:nvPr/>
        </p:nvSpPr>
        <p:spPr>
          <a:xfrm>
            <a:off x="4572000" y="4419600"/>
            <a:ext cx="6305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Supports real scan-ahead behavior for production batch work.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E884D-9761-4D5A-A0E2-814ED35A1623}"/>
              </a:ext>
            </a:extLst>
          </p:cNvPr>
          <p:cNvSpPr>
            <a:spLocks noGrp="1"/>
          </p:cNvSpPr>
          <p:nvPr/>
        </p:nvSpPr>
        <p:spPr>
          <a:xfrm>
            <a:off x="11106150" y="4419600"/>
            <a:ext cx="6305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sz="1600">
                <a:solidFill>
                  <a:srgbClr val="475569"/>
                </a:solidFill>
              </a:rPr>
              <a:t>Requires clear visible queue states and operator guidance.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59716F-FFBE-4479-8910-C71DA7097BB2}"/>
              </a:ext>
            </a:extLst>
          </p:cNvPr>
          <p:cNvSpPr>
            <a:spLocks noGrp="1"/>
          </p:cNvSpPr>
          <p:nvPr/>
        </p:nvSpPr>
        <p:spPr>
          <a:xfrm>
            <a:off x="876300" y="4933950"/>
            <a:ext cx="16535400" cy="190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ommendation">
            <a:extLst>
              <a:ext uri="{FF2B5EF4-FFF2-40B4-BE49-F238E27FC236}">
                <a16:creationId xmlns:a16="http://schemas.microsoft.com/office/drawing/2014/main" id="{B11C9FB7-45D8-4987-BA73-27DBDD081673}"/>
              </a:ext>
            </a:extLst>
          </p:cNvPr>
          <p:cNvSpPr>
            <a:spLocks noGrp="1"/>
          </p:cNvSpPr>
          <p:nvPr/>
        </p:nvSpPr>
        <p:spPr>
          <a:xfrm>
            <a:off x="876300" y="5276850"/>
            <a:ext cx="16535400" cy="1165860"/>
          </a:xfrm>
          <a:prstGeom prst="roundRect">
            <a:avLst>
              <a:gd name="adj" fmla="val 11438"/>
            </a:avLst>
          </a:prstGeom>
          <a:solidFill>
            <a:srgbClr val="ECFDF5"/>
          </a:solidFill>
          <a:ln w="190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CA44B6-F43F-43B2-99F6-280D01E668B5}"/>
              </a:ext>
            </a:extLst>
          </p:cNvPr>
          <p:cNvSpPr>
            <a:spLocks noGrp="1"/>
          </p:cNvSpPr>
          <p:nvPr/>
        </p:nvSpPr>
        <p:spPr>
          <a:xfrm>
            <a:off x="1200150" y="5505450"/>
            <a:ext cx="158877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>
                <a:solidFill>
                  <a:srgbClr val="0B1220"/>
                </a:solidFill>
              </a:defRPr>
            </a:pPr>
            <a:r>
              <a:rPr sz="2325">
                <a:solidFill>
                  <a:srgbClr val="0B1220"/>
                </a:solidFill>
              </a:rPr>
              <a:t>Recommended direction: approve a larger visible queue for Loading, with pending / processed / failed status visible on screen.</a:t>
            </a:r>
          </a:p>
        </p:txBody>
      </p:sp>
    </p:spTree>
    <p:extLst>
      <p:ext uri="{BB962C8B-B14F-4D97-AF65-F5344CB8AC3E}">
        <p14:creationId xmlns:p14="http://schemas.microsoft.com/office/powerpoint/2010/main" val="13759923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708</Words>
  <Application>Microsoft Macintosh PowerPoint</Application>
  <DocSecurity>0</DocSecurity>
  <PresentationFormat>Custom</PresentationFormat>
  <Paragraphs>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Andres Dominicci</cp:lastModifiedBy>
  <cp:revision>4</cp:revision>
  <dcterms:created xsi:type="dcterms:W3CDTF">2026-04-29T21:42:11Z</dcterms:created>
  <dcterms:modified xsi:type="dcterms:W3CDTF">2026-04-30T07:58:10Z</dcterms:modified>
</cp:coreProperties>
</file>